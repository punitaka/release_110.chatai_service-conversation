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1910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57188"/>
            <a:ext cx="822960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2" dirty="0">
                <a:solidFill>
                  <a:srgbClr val="0EA5E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AI CONVERSATION WEB APP / OVERVIEW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564356"/>
            <a:ext cx="8229600" cy="345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100" b="1" kern="0" spc="1" dirty="0">
                <a:solidFill>
                  <a:srgbClr val="0F172A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Raspberry Piで実現する、3つの生成AIの会話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57200" y="966527"/>
            <a:ext cx="822960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利用者がテーマを与えると、Raspberry Pi 5が会話を進行し、3つのAIが順番に発言する。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763055"/>
            <a:ext cx="1678781" cy="14287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4"/>
          <p:cNvSpPr/>
          <p:nvPr/>
        </p:nvSpPr>
        <p:spPr>
          <a:xfrm>
            <a:off x="457200" y="1763055"/>
            <a:ext cx="57150" cy="142875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571500" y="1907381"/>
            <a:ext cx="1450181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利用者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71500" y="2250281"/>
            <a:ext cx="1450181" cy="797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ブラウザからテーマや参加AI、モデル、トーン、ターン数を指定して操作します。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193131" y="2322054"/>
            <a:ext cx="414338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EA5E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→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2664619" y="1763055"/>
            <a:ext cx="2536031" cy="142875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9"/>
          <p:cNvSpPr/>
          <p:nvPr/>
        </p:nvSpPr>
        <p:spPr>
          <a:xfrm>
            <a:off x="2664619" y="1763055"/>
            <a:ext cx="57150" cy="142875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/>
          <p:nvPr/>
        </p:nvSpPr>
        <p:spPr>
          <a:xfrm>
            <a:off x="2778919" y="2126326"/>
            <a:ext cx="2307431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Raspberry Pi 5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778919" y="2429935"/>
            <a:ext cx="2307431" cy="3985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Flask UIと会話エンジンを走らせ、発言順を制御して配信します。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257800" y="2322054"/>
            <a:ext cx="414338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EA5E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→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5729288" y="1655899"/>
            <a:ext cx="2957513" cy="49291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4"/>
          <p:cNvSpPr/>
          <p:nvPr/>
        </p:nvSpPr>
        <p:spPr>
          <a:xfrm>
            <a:off x="5729288" y="1655899"/>
            <a:ext cx="71438" cy="492919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5829300" y="1804132"/>
            <a:ext cx="1071563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Manus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900863" y="1820205"/>
            <a:ext cx="168592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会話参加・進行役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729288" y="2205968"/>
            <a:ext cx="2957513" cy="5429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8"/>
          <p:cNvSpPr/>
          <p:nvPr/>
        </p:nvSpPr>
        <p:spPr>
          <a:xfrm>
            <a:off x="5729288" y="2205968"/>
            <a:ext cx="71438" cy="54292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9"/>
          <p:cNvSpPr/>
          <p:nvPr/>
        </p:nvSpPr>
        <p:spPr>
          <a:xfrm>
            <a:off x="5829300" y="2280977"/>
            <a:ext cx="1071563" cy="3929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OpenAI / GPT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900863" y="2395277"/>
            <a:ext cx="168592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会話参加・論点の展開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729288" y="2806043"/>
            <a:ext cx="2957513" cy="49291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2"/>
          <p:cNvSpPr/>
          <p:nvPr/>
        </p:nvSpPr>
        <p:spPr>
          <a:xfrm>
            <a:off x="5729288" y="2806043"/>
            <a:ext cx="71438" cy="492919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3"/>
          <p:cNvSpPr/>
          <p:nvPr/>
        </p:nvSpPr>
        <p:spPr>
          <a:xfrm>
            <a:off x="5829300" y="2954275"/>
            <a:ext cx="1071563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Claude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900863" y="2970349"/>
            <a:ext cx="168592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会話参加・別視点の提示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57200" y="3749018"/>
            <a:ext cx="8229600" cy="27860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6"/>
          <p:cNvSpPr/>
          <p:nvPr/>
        </p:nvSpPr>
        <p:spPr>
          <a:xfrm>
            <a:off x="457200" y="3749018"/>
            <a:ext cx="8229600" cy="1428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7"/>
          <p:cNvSpPr/>
          <p:nvPr/>
        </p:nvSpPr>
        <p:spPr>
          <a:xfrm>
            <a:off x="457200" y="3849030"/>
            <a:ext cx="2180574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APIキーはRaspberry Pi上の .env に保持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961459" y="3849030"/>
            <a:ext cx="2725341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F172A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ブラウザで、AI同士の会話をリアルタイムに見る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7175" y="357188"/>
            <a:ext cx="862965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2" dirty="0">
                <a:solidFill>
                  <a:srgbClr val="0EA5E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SYSTEM STACK / HARDWARE &amp; SOFTWARE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257175" y="564356"/>
            <a:ext cx="8629650" cy="3121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900" b="1" dirty="0">
                <a:solidFill>
                  <a:srgbClr val="0F172A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構成はシンプル。処理はRaspberry Piに集約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257175" y="933655"/>
            <a:ext cx="862965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ブラウザと外部APIをつなぐWebアプリケーション。ローカルで重い計算は行わない。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57175" y="1187258"/>
            <a:ext cx="8629650" cy="220652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4"/>
          <p:cNvSpPr/>
          <p:nvPr/>
        </p:nvSpPr>
        <p:spPr>
          <a:xfrm>
            <a:off x="257175" y="1187258"/>
            <a:ext cx="8629650" cy="21431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5"/>
          <p:cNvSpPr/>
          <p:nvPr/>
        </p:nvSpPr>
        <p:spPr>
          <a:xfrm>
            <a:off x="257175" y="3372352"/>
            <a:ext cx="8629650" cy="21431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Shape 6"/>
          <p:cNvSpPr/>
          <p:nvPr/>
        </p:nvSpPr>
        <p:spPr>
          <a:xfrm>
            <a:off x="257175" y="1187258"/>
            <a:ext cx="1285875" cy="250031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257175" y="1430145"/>
            <a:ext cx="1285875" cy="714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257175" y="1187258"/>
            <a:ext cx="1285875" cy="250031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レイヤー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543050" y="1187258"/>
            <a:ext cx="2286000" cy="250031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0"/>
          <p:cNvSpPr/>
          <p:nvPr/>
        </p:nvSpPr>
        <p:spPr>
          <a:xfrm>
            <a:off x="1543050" y="1430145"/>
            <a:ext cx="2286000" cy="714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1"/>
          <p:cNvSpPr/>
          <p:nvPr/>
        </p:nvSpPr>
        <p:spPr>
          <a:xfrm>
            <a:off x="1543050" y="1187258"/>
            <a:ext cx="2286000" cy="250031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採用技術・機器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829050" y="1187258"/>
            <a:ext cx="5057775" cy="250031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3"/>
          <p:cNvSpPr/>
          <p:nvPr/>
        </p:nvSpPr>
        <p:spPr>
          <a:xfrm>
            <a:off x="3829050" y="1430145"/>
            <a:ext cx="5057775" cy="714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4"/>
          <p:cNvSpPr/>
          <p:nvPr/>
        </p:nvSpPr>
        <p:spPr>
          <a:xfrm>
            <a:off x="3829050" y="1187258"/>
            <a:ext cx="5057775" cy="250031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役割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28613" y="1580499"/>
            <a:ext cx="1143000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利用者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614488" y="1487295"/>
            <a:ext cx="21431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PC／スマートフォン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614488" y="1715895"/>
            <a:ext cx="2143125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Webブラウザ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900488" y="1538753"/>
            <a:ext cx="4914900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テーマ、参加AI、モデル、トーン、ターン数を指定。START／PAUSE／RESUME／STOPを操作。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328613" y="2070515"/>
            <a:ext cx="1143000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実行基盤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614488" y="1991599"/>
            <a:ext cx="21431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Raspberry Pi 5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614488" y="2191624"/>
            <a:ext cx="2143125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Raspberry Pi OS 64bit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3900488" y="2105899"/>
            <a:ext cx="4914900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Flask Web UI、会話エンジン、リアルタイム配信、ログ保存を実行。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328613" y="2537315"/>
            <a:ext cx="1143000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AI参加者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614488" y="2467328"/>
            <a:ext cx="429909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6A34A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Manus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2101546" y="2467328"/>
            <a:ext cx="482650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563E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OpenAI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2641346" y="2467328"/>
            <a:ext cx="452568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9731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Claude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1614488" y="2649494"/>
            <a:ext cx="2143125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各社API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3900488" y="2572699"/>
            <a:ext cx="4914900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2〜3体が共通の会話全文脈を受け取り、順番に発言。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328613" y="3004114"/>
            <a:ext cx="1143000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開発環境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614488" y="2925198"/>
            <a:ext cx="21431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172A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Python 3 + venv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1614488" y="3125223"/>
            <a:ext cx="2143125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Flask / Requests / SDK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3900488" y="3039498"/>
            <a:ext cx="4914900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OpenAI SDK、Anthropic SDK、python-dotenvでAPI連携を構築。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257175" y="3415215"/>
            <a:ext cx="8629650" cy="628650"/>
          </a:xfrm>
          <a:prstGeom prst="rect">
            <a:avLst/>
          </a:prstGeom>
          <a:solidFill>
            <a:srgbClr val="E0F2F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7" name="Shape 34"/>
          <p:cNvSpPr/>
          <p:nvPr/>
        </p:nvSpPr>
        <p:spPr>
          <a:xfrm>
            <a:off x="257175" y="3415215"/>
            <a:ext cx="8629650" cy="35719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5"/>
          <p:cNvSpPr/>
          <p:nvPr/>
        </p:nvSpPr>
        <p:spPr>
          <a:xfrm>
            <a:off x="342900" y="3472365"/>
            <a:ext cx="1428750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172A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Pi Zero 2 Wでも十分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1843088" y="3514892"/>
            <a:ext cx="6958013" cy="393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処理の中心はWebサーバーとAPI通信。画像処理やローカルLLM実行を行わないため、クアッドコアCPU・512MB RAMのZero 2 Wでも動作します。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257175" y="4051009"/>
            <a:ext cx="862965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APIキーはRaspberry Pi上の .env にのみ保持し、ブラウザへは送信しない。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57188"/>
            <a:ext cx="8229600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2" dirty="0">
                <a:solidFill>
                  <a:srgbClr val="0EA5E9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N" pitchFamily="34" charset="-120"/>
              </a:rPr>
              <a:t>HOW IT WORKS / 3 STEPS</a:t>
            </a:r>
            <a:endParaRPr lang="en-US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564356"/>
            <a:ext cx="5103961" cy="283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N" pitchFamily="34" charset="-120"/>
              </a:rPr>
              <a:t>テーマを入力するだけで、AI同士の雑談が始まる</a:t>
            </a:r>
            <a:endParaRPr lang="en-US" sz="2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950119"/>
            <a:ext cx="8229600" cy="161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N" pitchFamily="34" charset="-120"/>
              </a:rPr>
              <a:t>ブラウザで設定してSTART。あとはRaspberry Piが会話を進行します。</a:t>
            </a:r>
            <a:endParaRPr 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57200" y="1318022"/>
            <a:ext cx="2438363" cy="160811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57200" y="1318022"/>
            <a:ext cx="2438363" cy="5715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5"/>
          <p:cNvSpPr/>
          <p:nvPr/>
        </p:nvSpPr>
        <p:spPr>
          <a:xfrm>
            <a:off x="600075" y="1418034"/>
            <a:ext cx="477695" cy="3385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750" b="1" dirty="0">
                <a:solidFill>
                  <a:srgbClr val="0EA5E9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N" pitchFamily="34" charset="-120"/>
              </a:rPr>
              <a:t>01</a:t>
            </a:r>
            <a:endParaRPr lang="en-US" sz="27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6"/>
          <p:cNvSpPr/>
          <p:nvPr/>
        </p:nvSpPr>
        <p:spPr>
          <a:xfrm>
            <a:off x="600075" y="1889522"/>
            <a:ext cx="2152613" cy="207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N" pitchFamily="34" charset="-120"/>
              </a:rPr>
              <a:t>テーマを入力</a:t>
            </a:r>
            <a:endParaRPr lang="en-US" sz="13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00075" y="2235994"/>
            <a:ext cx="2152613" cy="34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N" pitchFamily="34" charset="-120"/>
              </a:rPr>
              <a:t>「生成AIは人間の創造性を高めるか？」など、話してほしいテーマを入力します。</a:t>
            </a:r>
            <a:endParaRPr lang="en-US" sz="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989511" y="2085127"/>
            <a:ext cx="269304" cy="32316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EA5E9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N" pitchFamily="34" charset="-120"/>
              </a:rPr>
              <a:t>→</a:t>
            </a:r>
            <a:endParaRPr lang="en-US" sz="2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352763" y="1318022"/>
            <a:ext cx="2438419" cy="160811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352763" y="1318022"/>
            <a:ext cx="2438419" cy="5715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495638" y="1418034"/>
            <a:ext cx="477695" cy="3385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750" b="1" dirty="0">
                <a:solidFill>
                  <a:srgbClr val="475569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N" pitchFamily="34" charset="-120"/>
              </a:rPr>
              <a:t>02</a:t>
            </a:r>
            <a:endParaRPr lang="en-US" sz="27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495638" y="1889522"/>
            <a:ext cx="2152669" cy="207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N" pitchFamily="34" charset="-120"/>
              </a:rPr>
              <a:t>参加AIを選ぶ</a:t>
            </a:r>
            <a:endParaRPr lang="en-US" sz="13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495638" y="2235994"/>
            <a:ext cx="2152669" cy="34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16A3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N" pitchFamily="34" charset="-120"/>
              </a:rPr>
              <a:t>Manus</a:t>
            </a:r>
            <a:r>
              <a:rPr lang="en-US" sz="950" dirty="0">
                <a:solidFill>
                  <a:srgbClr val="3341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N" pitchFamily="34" charset="-120"/>
              </a:rPr>
              <a:t>・</a:t>
            </a:r>
            <a:r>
              <a:rPr lang="en-US" sz="950" dirty="0">
                <a:solidFill>
                  <a:srgbClr val="2563EB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N" pitchFamily="34" charset="-120"/>
              </a:rPr>
              <a:t>GPT</a:t>
            </a:r>
            <a:r>
              <a:rPr lang="en-US" sz="950" dirty="0">
                <a:solidFill>
                  <a:srgbClr val="3341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N" pitchFamily="34" charset="-120"/>
              </a:rPr>
              <a:t>・</a:t>
            </a:r>
            <a:r>
              <a:rPr lang="en-US" sz="950" dirty="0">
                <a:solidFill>
                  <a:srgbClr val="F97316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N" pitchFamily="34" charset="-120"/>
              </a:rPr>
              <a:t>Claude</a:t>
            </a:r>
            <a:r>
              <a:rPr lang="en-US" sz="950" dirty="0">
                <a:solidFill>
                  <a:srgbClr val="3341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N" pitchFamily="34" charset="-120"/>
              </a:rPr>
              <a:t>から2〜3体を選択。モデレーターも指定します。</a:t>
            </a:r>
            <a:endParaRPr lang="en-US" sz="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885129" y="2085127"/>
            <a:ext cx="269304" cy="32316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EA5E9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N" pitchFamily="34" charset="-120"/>
              </a:rPr>
              <a:t>→</a:t>
            </a:r>
            <a:endParaRPr lang="en-US" sz="21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248381" y="1318022"/>
            <a:ext cx="2438419" cy="160811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248381" y="1318022"/>
            <a:ext cx="2438419" cy="5715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391256" y="1418034"/>
            <a:ext cx="477695" cy="3385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750" b="1" dirty="0">
                <a:solidFill>
                  <a:srgbClr val="16A34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N" pitchFamily="34" charset="-120"/>
              </a:rPr>
              <a:t>03</a:t>
            </a:r>
            <a:endParaRPr lang="en-US" sz="27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391256" y="1889522"/>
            <a:ext cx="2152669" cy="207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N" pitchFamily="34" charset="-120"/>
              </a:rPr>
              <a:t>STARTを押す</a:t>
            </a:r>
            <a:endParaRPr lang="en-US" sz="13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391256" y="2235994"/>
            <a:ext cx="2152669" cy="34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N" pitchFamily="34" charset="-120"/>
              </a:rPr>
              <a:t>AIが順番に発言。PAUSE／RESUME／STOPで会話の進行も操作できます。</a:t>
            </a:r>
            <a:endParaRPr lang="en-US" sz="9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57200" y="3591568"/>
            <a:ext cx="2143125" cy="192360"/>
          </a:xfrm>
          <a:prstGeom prst="rect">
            <a:avLst/>
          </a:prstGeom>
          <a:noFill/>
          <a:ln/>
        </p:spPr>
        <p:txBody>
          <a:bodyPr wrap="square" lIns="187071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17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N" pitchFamily="34" charset="-120"/>
              </a:rPr>
              <a:t>ブラウザで見えるもの</a:t>
            </a:r>
            <a:endParaRPr lang="en-US" sz="12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2750344" y="3408342"/>
            <a:ext cx="2911078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N" pitchFamily="34" charset="-120"/>
              </a:rPr>
              <a:t>リアルタイム会話</a:t>
            </a:r>
            <a:endParaRPr 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2750344" y="3661945"/>
            <a:ext cx="2313134" cy="1434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N" pitchFamily="34" charset="-120"/>
              </a:rPr>
              <a:t>各AIの発言と思考中ステータスを吹き出しで表示。</a:t>
            </a:r>
            <a:endParaRPr lang="en-US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2750344" y="3838027"/>
            <a:ext cx="1075615" cy="1434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N" pitchFamily="34" charset="-120"/>
              </a:rPr>
              <a:t>全AIへ全文脈を共有。</a:t>
            </a:r>
            <a:endParaRPr lang="en-US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5775722" y="3408342"/>
            <a:ext cx="2911078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N" pitchFamily="34" charset="-120"/>
              </a:rPr>
              <a:t>会話終了後の要約</a:t>
            </a:r>
            <a:endParaRPr lang="en-US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5775722" y="3661945"/>
            <a:ext cx="2388474" cy="1434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N" pitchFamily="34" charset="-120"/>
              </a:rPr>
              <a:t>総括、AIごとの論点、主な課題、AI間で見解が分か</a:t>
            </a:r>
            <a:endParaRPr lang="en-US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5775722" y="3838027"/>
            <a:ext cx="934551" cy="1434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iragino Kaku Gothic ProN" pitchFamily="34" charset="-120"/>
              </a:rPr>
              <a:t>れた点を自動生成。</a:t>
            </a:r>
            <a:endParaRPr lang="en-US" sz="9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296</Words>
  <Application>Microsoft Office PowerPoint</Application>
  <PresentationFormat>画面に合わせる (16:9)</PresentationFormat>
  <Paragraphs>68</Paragraphs>
  <Slides>3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Hiragino Kaku Gothic ProN</vt:lpstr>
      <vt:lpstr>Meiryo UI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FY Yoshida</cp:lastModifiedBy>
  <cp:revision>2</cp:revision>
  <dcterms:created xsi:type="dcterms:W3CDTF">2026-09-04T23:55:31Z</dcterms:created>
  <dcterms:modified xsi:type="dcterms:W3CDTF">2026-09-05T00:50:21Z</dcterms:modified>
</cp:coreProperties>
</file>